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sldIdLst>
    <p:sldId id="256" r:id="rId2"/>
    <p:sldId id="271" r:id="rId3"/>
    <p:sldId id="273" r:id="rId4"/>
    <p:sldId id="274" r:id="rId5"/>
    <p:sldId id="275" r:id="rId6"/>
    <p:sldId id="272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7E8602-F84B-4425-936F-45C6C227EC8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D71C4A-1F9C-45D0-9CDA-F4D0D486A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289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71C4A-1F9C-45D0-9CDA-F4D0D486A9B5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302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0" y="0"/>
            <a:ext cx="12227975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1697" y="1871132"/>
            <a:ext cx="6813894" cy="1515533"/>
          </a:xfrm>
        </p:spPr>
        <p:txBody>
          <a:bodyPr anchor="b">
            <a:noAutofit/>
          </a:bodyPr>
          <a:lstStyle>
            <a:lvl1pPr algn="ctr">
              <a:defRPr sz="5398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1697" y="3657597"/>
            <a:ext cx="6813894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099">
                <a:solidFill>
                  <a:schemeClr val="tx1"/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1154" y="5037663"/>
            <a:ext cx="897233" cy="279400"/>
          </a:xfrm>
        </p:spPr>
        <p:txBody>
          <a:bodyPr/>
          <a:lstStyle/>
          <a:p>
            <a:fld id="{8BE17199-7999-4DE4-A8B6-08B7A76B3E8C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1696" y="5037663"/>
            <a:ext cx="5213277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4568" y="5037663"/>
            <a:ext cx="55102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1698" y="3522131"/>
            <a:ext cx="68138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448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23F21-B72B-4521-B3C8-93CA05D2A1C3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000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4544" y="1752606"/>
            <a:ext cx="8156563" cy="1822514"/>
          </a:xfrm>
        </p:spPr>
        <p:txBody>
          <a:bodyPr anchor="b">
            <a:normAutofit/>
          </a:bodyPr>
          <a:lstStyle>
            <a:lvl1pPr algn="ctr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4542" y="3846052"/>
            <a:ext cx="8156565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3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A9024-71EF-4781-8DB2-B2A60BF217FD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199" y="3710585"/>
            <a:ext cx="816125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2436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110" y="2560320"/>
            <a:ext cx="4717075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9734" y="2560320"/>
            <a:ext cx="4717075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69D3B-2294-43EE-B722-74CFB03E4B3E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276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3" y="2658533"/>
            <a:ext cx="4717075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799" b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063" y="3243263"/>
            <a:ext cx="4717075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9061" y="2658533"/>
            <a:ext cx="4717075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799" b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9061" y="3243263"/>
            <a:ext cx="4717075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82A2C-2667-4382-9E2C-3829B1D3AA8C}" type="datetime1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734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1E20-1F90-4756-91CB-34AE263B90D3}" type="datetime1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725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029F-F41C-4090-9BDF-919C3855EB37}" type="datetime1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52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474" y="1388534"/>
            <a:ext cx="3717487" cy="1371600"/>
          </a:xfrm>
        </p:spPr>
        <p:txBody>
          <a:bodyPr anchor="b">
            <a:normAutofit/>
          </a:bodyPr>
          <a:lstStyle>
            <a:lvl1pPr algn="ctr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7257" y="982132"/>
            <a:ext cx="5468042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474" y="3031065"/>
            <a:ext cx="371748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01525-B62D-419A-BB3F-A31141E45CD0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5805" y="2912533"/>
            <a:ext cx="35135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2128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1" y="1883832"/>
            <a:ext cx="6240191" cy="1371600"/>
          </a:xfrm>
        </p:spPr>
        <p:txBody>
          <a:bodyPr anchor="b">
            <a:normAutofit/>
          </a:bodyPr>
          <a:lstStyle>
            <a:lvl1pPr algn="ctr">
              <a:defRPr sz="27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2724" y="1041400"/>
            <a:ext cx="3062549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061" y="3255432"/>
            <a:ext cx="624019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F46C8-0CC0-41B4-9FA3-37E5DAFC06D9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650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4" y="4815415"/>
            <a:ext cx="9607163" cy="566738"/>
          </a:xfrm>
        </p:spPr>
        <p:txBody>
          <a:bodyPr anchor="b">
            <a:normAutofit/>
          </a:bodyPr>
          <a:lstStyle>
            <a:lvl1pPr algn="ctr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156" y="1041400"/>
            <a:ext cx="10103340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064" y="5382153"/>
            <a:ext cx="9607163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FBE9E-B5BC-4F20-87F8-30839378AF28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751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528" y="982132"/>
            <a:ext cx="9590234" cy="2954868"/>
          </a:xfrm>
        </p:spPr>
        <p:txBody>
          <a:bodyPr anchor="ctr">
            <a:normAutofit/>
          </a:bodyPr>
          <a:lstStyle>
            <a:lvl1pPr algn="ctr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528" y="4343400"/>
            <a:ext cx="959023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48CD-F18C-40F8-B605-E53004AA3AAF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5806" y="4140199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5311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982132"/>
            <a:ext cx="9293977" cy="2370668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376" y="3352800"/>
            <a:ext cx="8836900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999"/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343400"/>
            <a:ext cx="9607163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DB97B-39D6-4252-88F9-AD5F0CDE906B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1789" y="8799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7507" y="2827870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5806" y="4140199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5955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5" y="3308581"/>
            <a:ext cx="9607165" cy="1468800"/>
          </a:xfrm>
        </p:spPr>
        <p:txBody>
          <a:bodyPr anchor="b">
            <a:normAutofit/>
          </a:bodyPr>
          <a:lstStyle>
            <a:lvl1pPr algn="l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777381"/>
            <a:ext cx="9607165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5981-5670-4DBE-8B46-074E033D04DA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468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982132"/>
            <a:ext cx="9293977" cy="2243668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064" y="3639312"/>
            <a:ext cx="9607165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3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529667"/>
            <a:ext cx="9607165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59C6D-20EE-4C31-ADAD-4CE94812D4DD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1789" y="8799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7507" y="25992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5806" y="3429000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597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4" y="982132"/>
            <a:ext cx="9607163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064" y="3630168"/>
            <a:ext cx="9607165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3" y="4470400"/>
            <a:ext cx="9607167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5DEDD-E65A-44AB-A25B-EC4F517A9823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5806" y="3429000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16036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C3E33-0A57-4EA4-8FE5-AF2CB7826216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70257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7013" y="982132"/>
            <a:ext cx="1890403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061" y="982132"/>
            <a:ext cx="7431089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E4688-36D6-4EBC-B9E7-C360AC63A052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1582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2794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2" y="0"/>
            <a:ext cx="12226777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065" y="982133"/>
            <a:ext cx="95986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2556932"/>
            <a:ext cx="95986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5241" y="5969000"/>
            <a:ext cx="15997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BCC0E51-6E08-4B22-BCF3-BBB21C60B864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064" y="5969000"/>
            <a:ext cx="73039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1205" y="5969000"/>
            <a:ext cx="542556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99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ctr" defTabSz="457063" rtl="0" eaLnBrk="1" latinLnBrk="0" hangingPunct="1">
        <a:spcBef>
          <a:spcPct val="0"/>
        </a:spcBef>
        <a:buNone/>
        <a:defRPr sz="4399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664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3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9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199790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7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2587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999650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Health</a:t>
            </a:r>
            <a:r>
              <a:rPr lang="en-US" dirty="0"/>
              <a:t>care</a:t>
            </a:r>
            <a:r>
              <a:rPr dirty="0"/>
              <a:t> Fund Allocation Portal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Blockchain-Powered Transparent Healthcare Claims System</a:t>
            </a:r>
            <a:endParaRPr lang="en-US" dirty="0"/>
          </a:p>
          <a:p>
            <a:pPr algn="r"/>
            <a:endParaRPr lang="en-IN" dirty="0"/>
          </a:p>
          <a:p>
            <a:pPr algn="r"/>
            <a:r>
              <a:rPr lang="en-IN" dirty="0"/>
              <a:t>- Chandana T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CC4B8D-8893-4928-B64B-999682799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68" y="369322"/>
            <a:ext cx="1524132" cy="108213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B9D08DF-2243-47B2-BF85-5C3CAFFFF40C}"/>
              </a:ext>
            </a:extLst>
          </p:cNvPr>
          <p:cNvSpPr/>
          <p:nvPr/>
        </p:nvSpPr>
        <p:spPr>
          <a:xfrm>
            <a:off x="2101515" y="201927"/>
            <a:ext cx="8021053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University BDT College of Engineering, Davangere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599594-929C-47C2-A329-11CD22D7E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8783" y="201927"/>
            <a:ext cx="1691787" cy="129551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95D5A7-37D8-4766-992F-F7390EAAA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3B92E-A71D-410D-AAB4-6BA01D83F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Under the guidance of: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41D25-9144-4286-BE14-6C964352B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b="1" dirty="0"/>
              <a:t>Prof. Mohamed Rafi </a:t>
            </a:r>
            <a:r>
              <a:rPr lang="en-IN" sz="1200" b="1" dirty="0"/>
              <a:t>ME, </a:t>
            </a:r>
            <a:r>
              <a:rPr lang="en-IN" sz="1200" b="1" dirty="0" err="1"/>
              <a:t>Phd</a:t>
            </a:r>
            <a:r>
              <a:rPr lang="en-IN" sz="1200" b="1" dirty="0"/>
              <a:t>.</a:t>
            </a:r>
            <a:endParaRPr lang="en-IN" b="1" dirty="0"/>
          </a:p>
          <a:p>
            <a:pPr marL="0" indent="0" algn="ctr">
              <a:buNone/>
            </a:pPr>
            <a:r>
              <a:rPr lang="en-IN" dirty="0"/>
              <a:t>Chairman &amp; Guide</a:t>
            </a:r>
          </a:p>
          <a:p>
            <a:pPr marL="0" indent="0" algn="ctr">
              <a:buNone/>
            </a:pPr>
            <a:r>
              <a:rPr lang="en-IN" dirty="0"/>
              <a:t>DOS of Computer Science &amp; Engineering</a:t>
            </a:r>
          </a:p>
          <a:p>
            <a:pPr marL="0" indent="0" algn="ctr">
              <a:buNone/>
            </a:pPr>
            <a:r>
              <a:rPr lang="en-IN" dirty="0"/>
              <a:t>University BDT College of Engineering</a:t>
            </a:r>
          </a:p>
          <a:p>
            <a:pPr marL="0" indent="0" algn="ctr">
              <a:buNone/>
            </a:pPr>
            <a:r>
              <a:rPr lang="en-IN" dirty="0" err="1"/>
              <a:t>Davangere</a:t>
            </a:r>
            <a:r>
              <a:rPr lang="en-IN" dirty="0"/>
              <a:t> - 577004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FAF79-00D4-4379-AB20-FFEC4C379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555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D42-3510-48EC-AD3B-2F125E9FD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D21EC-58FC-42A7-A4F4-D85729E54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• Ayushman Bharat (PM-JAY): ₹5 Lakh/family/year with 100M+ beneficiaries and is Aadhaar-based</a:t>
            </a:r>
          </a:p>
          <a:p>
            <a:pPr marL="0" indent="0">
              <a:buNone/>
            </a:pPr>
            <a:r>
              <a:rPr lang="en-IN" dirty="0"/>
              <a:t>• Arogya Karnataka (AB-</a:t>
            </a:r>
            <a:r>
              <a:rPr lang="en-IN" dirty="0" err="1"/>
              <a:t>ArK</a:t>
            </a:r>
            <a:r>
              <a:rPr lang="en-IN" dirty="0"/>
              <a:t>): Blends national and state schemes providing</a:t>
            </a:r>
          </a:p>
          <a:p>
            <a:pPr marL="0" indent="0">
              <a:buNone/>
            </a:pPr>
            <a:r>
              <a:rPr lang="en-IN" dirty="0"/>
              <a:t>     Free treatment, with no upfront payment </a:t>
            </a:r>
          </a:p>
          <a:p>
            <a:pPr marL="0" indent="0">
              <a:buNone/>
            </a:pPr>
            <a:r>
              <a:rPr lang="en-IN" dirty="0"/>
              <a:t>• Claims delayed: Weeks to months</a:t>
            </a:r>
          </a:p>
          <a:p>
            <a:pPr marL="0" indent="0">
              <a:buNone/>
            </a:pPr>
            <a:r>
              <a:rPr lang="en-IN" dirty="0"/>
              <a:t>• Only ~66% budget was utilized</a:t>
            </a:r>
          </a:p>
          <a:p>
            <a:pPr marL="0" indent="0">
              <a:buNone/>
            </a:pPr>
            <a:r>
              <a:rPr lang="en-IN" dirty="0"/>
              <a:t>• Paperwork, fraud, duplicate claims</a:t>
            </a:r>
          </a:p>
          <a:p>
            <a:pPr marL="0" indent="0">
              <a:buNone/>
            </a:pPr>
            <a:r>
              <a:rPr lang="en-IN" dirty="0"/>
              <a:t>• Rural hospitals suffer cash flow</a:t>
            </a:r>
          </a:p>
          <a:p>
            <a:pPr marL="0" indent="0">
              <a:buNone/>
            </a:pPr>
            <a:r>
              <a:rPr lang="en-IN" dirty="0"/>
              <a:t>• No real-time visibility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BD430-E4A3-4AC1-BF6C-EAA4F9C0C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781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C4CF1-D050-4DEC-996C-2D500C1A5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Survey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B5DDB-EF09-4DE8-84F1-261B3C0CE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>
                <a:effectLst/>
              </a:rPr>
              <a:t>GLOBAL RESEARCH (2016–2023)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• 2019 MDPI Review (</a:t>
            </a:r>
            <a:r>
              <a:rPr lang="en-IN" dirty="0" err="1">
                <a:effectLst/>
              </a:rPr>
              <a:t>Hasselgren</a:t>
            </a:r>
            <a:r>
              <a:rPr lang="en-IN" dirty="0">
                <a:effectLst/>
              </a:rPr>
              <a:t> et al.): 60+ studies </a:t>
            </a:r>
          </a:p>
          <a:p>
            <a:pPr lvl="1"/>
            <a:r>
              <a:rPr lang="en-IN" dirty="0">
                <a:effectLst/>
              </a:rPr>
              <a:t>EHR security, Drug traceability, Clinical trials </a:t>
            </a:r>
          </a:p>
          <a:p>
            <a:pPr lvl="1"/>
            <a:r>
              <a:rPr lang="en-IN" dirty="0">
                <a:effectLst/>
              </a:rPr>
              <a:t>Benefits: Tamper-proof, No middlemen, Transparent </a:t>
            </a:r>
          </a:p>
          <a:p>
            <a:pPr lvl="1"/>
            <a:r>
              <a:rPr lang="en-IN" dirty="0">
                <a:effectLst/>
              </a:rPr>
              <a:t>Gap: Mostly theoretical, Few real deployments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• 2021 PLOS One (</a:t>
            </a:r>
            <a:r>
              <a:rPr lang="en-IN" dirty="0" err="1">
                <a:effectLst/>
              </a:rPr>
              <a:t>Hussien</a:t>
            </a:r>
            <a:r>
              <a:rPr lang="en-IN" dirty="0">
                <a:effectLst/>
              </a:rPr>
              <a:t> et al.): 51 studies </a:t>
            </a:r>
          </a:p>
          <a:p>
            <a:pPr lvl="1"/>
            <a:r>
              <a:rPr lang="en-IN" dirty="0" err="1">
                <a:effectLst/>
              </a:rPr>
              <a:t>Patientory</a:t>
            </a:r>
            <a:r>
              <a:rPr lang="en-IN" dirty="0">
                <a:effectLst/>
              </a:rPr>
              <a:t>: Patient-controlled health data </a:t>
            </a:r>
          </a:p>
          <a:p>
            <a:pPr lvl="1"/>
            <a:r>
              <a:rPr lang="en-IN" dirty="0">
                <a:effectLst/>
              </a:rPr>
              <a:t>Challenges: High cost, Slow speed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00137-E352-4B28-AABF-91783865A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26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C4CF1-D050-4DEC-996C-2D500C1A5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Survey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B5DDB-EF09-4DE8-84F1-261B3C0CE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>
                <a:effectLst/>
              </a:rPr>
              <a:t>• NITI Aayog (2020): Blockchain: The India Strategy, </a:t>
            </a:r>
          </a:p>
          <a:p>
            <a:pPr lvl="1"/>
            <a:r>
              <a:rPr lang="en-IN" dirty="0">
                <a:effectLst/>
              </a:rPr>
              <a:t> Pilots: Fertilizer | Apollo Hospitals (drug supply chain), </a:t>
            </a:r>
          </a:p>
          <a:p>
            <a:pPr lvl="1"/>
            <a:r>
              <a:rPr lang="en-IN" dirty="0">
                <a:effectLst/>
              </a:rPr>
              <a:t>WHO: 1 in 5 drugs in India = fake</a:t>
            </a:r>
          </a:p>
          <a:p>
            <a:pPr lvl="1"/>
            <a:r>
              <a:rPr lang="en-IN" dirty="0">
                <a:effectLst/>
              </a:rPr>
              <a:t>Goal: End-to-end pill tracking </a:t>
            </a:r>
          </a:p>
          <a:p>
            <a:pPr lvl="1"/>
            <a:r>
              <a:rPr lang="en-IN" dirty="0">
                <a:effectLst/>
              </a:rPr>
              <a:t>Gaps: Only 10,000 blockchain experts globally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• 2022 </a:t>
            </a:r>
            <a:r>
              <a:rPr lang="en-IN" dirty="0" err="1">
                <a:effectLst/>
              </a:rPr>
              <a:t>Hindawi</a:t>
            </a:r>
            <a:r>
              <a:rPr lang="en-IN" dirty="0">
                <a:effectLst/>
              </a:rPr>
              <a:t> (Kumar &amp; Tripathi</a:t>
            </a:r>
          </a:p>
          <a:p>
            <a:pPr lvl="1"/>
            <a:r>
              <a:rPr lang="en-IN" dirty="0">
                <a:effectLst/>
              </a:rPr>
              <a:t>Blockchain for EHR sharing | Vaccine certificates</a:t>
            </a:r>
          </a:p>
          <a:p>
            <a:pPr lvl="1"/>
            <a:r>
              <a:rPr lang="en-IN" dirty="0">
                <a:effectLst/>
              </a:rPr>
              <a:t>Barriers: Poor internet | Low digital literacy | High cost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3C061-D191-4232-A854-8D55E5958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033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B9702-27EB-470F-83F7-99E20DDF1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293A2-EC82-4553-A7EE-91C7D4AC2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Enhancing Transparency and Trust</a:t>
            </a:r>
          </a:p>
          <a:p>
            <a:r>
              <a:rPr lang="en-IN" dirty="0"/>
              <a:t>Preventing Fraud</a:t>
            </a:r>
          </a:p>
          <a:p>
            <a:r>
              <a:rPr lang="en-IN" dirty="0"/>
              <a:t>Social Impact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D8BA04-F5FB-4DCF-A357-2AB2BC6D9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835" y="2507865"/>
            <a:ext cx="3973722" cy="7982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AC93CC-9E66-458B-B1B7-BE065E75F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082" y="3954825"/>
            <a:ext cx="4455739" cy="902925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93E9C1-3506-4B26-9D6C-1BF330505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626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Manual claim processing causes delays and errors</a:t>
            </a:r>
          </a:p>
          <a:p>
            <a:pPr>
              <a:defRPr sz="1800"/>
            </a:pPr>
            <a:r>
              <a:rPr dirty="0"/>
              <a:t>High risk of fraud and duplicate claims</a:t>
            </a:r>
          </a:p>
          <a:p>
            <a:pPr>
              <a:defRPr sz="1800"/>
            </a:pPr>
            <a:r>
              <a:rPr dirty="0"/>
              <a:t>No transparency in fund allocation</a:t>
            </a:r>
          </a:p>
          <a:p>
            <a:pPr>
              <a:defRPr sz="1800"/>
            </a:pPr>
            <a:r>
              <a:rPr dirty="0"/>
              <a:t>Difficulty tracking family-wise annual limits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79818-96A0-4B1E-9ECE-6F5B80EA6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Web-based portal with role-based access</a:t>
            </a:r>
          </a:p>
          <a:p>
            <a:pPr>
              <a:defRPr sz="1800"/>
            </a:pPr>
            <a:r>
              <a:rPr dirty="0"/>
              <a:t>Blockchain for immutable claim logging</a:t>
            </a:r>
          </a:p>
          <a:p>
            <a:pPr>
              <a:defRPr sz="1800"/>
            </a:pPr>
            <a:r>
              <a:rPr dirty="0"/>
              <a:t>Auto-generated PDF certificates with QR verification</a:t>
            </a:r>
          </a:p>
          <a:p>
            <a:pPr>
              <a:defRPr sz="1800"/>
            </a:pPr>
            <a:r>
              <a:rPr dirty="0"/>
              <a:t>Bulk citizen data upload via XLSX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EA283-A92E-4DF3-971C-6BCC25B03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Frontend: Flask + HTML/Jinja2</a:t>
            </a:r>
          </a:p>
          <a:p>
            <a:pPr>
              <a:defRPr sz="1800"/>
            </a:pPr>
            <a:r>
              <a:t>Backend: SQLite (thread-safe)</a:t>
            </a:r>
          </a:p>
          <a:p>
            <a:pPr>
              <a:defRPr sz="1800"/>
            </a:pPr>
            <a:r>
              <a:t>Blockchain: Ethereum (Ganache local chain)</a:t>
            </a:r>
          </a:p>
          <a:p>
            <a:pPr>
              <a:defRPr sz="1800"/>
            </a:pPr>
            <a:r>
              <a:t>Web3.py for smart contract interaction</a:t>
            </a:r>
          </a:p>
          <a:p>
            <a:pPr>
              <a:defRPr sz="1800"/>
            </a:pPr>
            <a:r>
              <a:t>ReportLab for PDF generation</a:t>
            </a:r>
          </a:p>
          <a:p>
            <a:pPr>
              <a:defRPr sz="1800"/>
            </a:pPr>
            <a:r>
              <a:t>QR codes for certificate verification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B45EAC-D8A9-4537-AA0E-19E232083E9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459" y="2077298"/>
            <a:ext cx="2547302" cy="379857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AC9BE-91F0-43B0-B40B-168107B5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District Admin → Creates Socio-Economic &amp; Treasurer accounts</a:t>
            </a:r>
          </a:p>
          <a:p>
            <a:pPr>
              <a:defRPr sz="1800"/>
            </a:pPr>
            <a:r>
              <a:t>Socio-Economic Admin → Manages citizen data &amp; news</a:t>
            </a:r>
          </a:p>
          <a:p>
            <a:pPr>
              <a:defRPr sz="1800"/>
            </a:pPr>
            <a:r>
              <a:t>Treasurer → Registers hospitals, approves/rejects claims</a:t>
            </a:r>
          </a:p>
          <a:p>
            <a:pPr>
              <a:defRPr sz="1800"/>
            </a:pPr>
            <a:r>
              <a:t>Hospital Staff → Submits claims with bill PDFs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C16C2-D233-4982-B84E-1BFAF305A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Socio-Economic Admin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Add/edit citizen: Aadhaar, name, income, family</a:t>
            </a:r>
          </a:p>
          <a:p>
            <a:pPr>
              <a:defRPr sz="1800"/>
            </a:pPr>
            <a:r>
              <a:rPr dirty="0"/>
              <a:t>Upload photo (JPG/PNG/PDF)</a:t>
            </a:r>
          </a:p>
          <a:p>
            <a:pPr>
              <a:defRPr sz="1800"/>
            </a:pPr>
            <a:r>
              <a:rPr dirty="0"/>
              <a:t>Bulk upload via XLSX with validation</a:t>
            </a:r>
          </a:p>
          <a:p>
            <a:pPr>
              <a:defRPr sz="1800"/>
            </a:pPr>
            <a:r>
              <a:rPr dirty="0"/>
              <a:t>View all registered citizens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629C33-3FF8-4A3C-A92A-D5BEBF167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252" y="4269910"/>
            <a:ext cx="6654299" cy="187689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E4446-8A80-4AC5-B08D-13CD89ABE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Treasurer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Register hospitals with public/private keys</a:t>
            </a:r>
          </a:p>
          <a:p>
            <a:pPr>
              <a:defRPr sz="1800"/>
            </a:pPr>
            <a:r>
              <a:rPr dirty="0"/>
              <a:t>View pending claims with bill PDFs</a:t>
            </a:r>
          </a:p>
          <a:p>
            <a:pPr>
              <a:defRPr sz="1800"/>
            </a:pPr>
            <a:r>
              <a:rPr dirty="0"/>
              <a:t>Approve/Reject with reason</a:t>
            </a:r>
          </a:p>
          <a:p>
            <a:pPr>
              <a:defRPr sz="1800"/>
            </a:pPr>
            <a:r>
              <a:rPr dirty="0"/>
              <a:t>View hospital-wise and overall stats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D13BA6-6BB2-43DB-BFF8-FE275C468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599" y="3664285"/>
            <a:ext cx="5434152" cy="181543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23E64-7B1C-45DE-A039-5FB6A0356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Hospital Staff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Enter patient ID, Aadhaar, operation, amount, place</a:t>
            </a:r>
          </a:p>
          <a:p>
            <a:pPr>
              <a:defRPr sz="1800"/>
            </a:pPr>
            <a:r>
              <a:t>Upload bill PDF</a:t>
            </a:r>
          </a:p>
          <a:p>
            <a:pPr>
              <a:defRPr sz="1800"/>
            </a:pPr>
            <a:r>
              <a:t>System checks family annual limit (₹5 Lakh)</a:t>
            </a:r>
          </a:p>
          <a:p>
            <a:pPr>
              <a:defRPr sz="1800"/>
            </a:pPr>
            <a:r>
              <a:t>Submit → recorded on blockchain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FEA9A-CE7F-41DF-B0F2-3AECCBECD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Blockchain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  <a:defRPr sz="1800"/>
            </a:pPr>
            <a:r>
              <a:rPr dirty="0"/>
              <a:t>Smart Contract Functions:</a:t>
            </a:r>
          </a:p>
          <a:p>
            <a:pPr marL="0" indent="0">
              <a:buNone/>
              <a:defRPr sz="1800"/>
            </a:pPr>
            <a:r>
              <a:rPr dirty="0"/>
              <a:t>   • </a:t>
            </a:r>
            <a:r>
              <a:rPr dirty="0" err="1"/>
              <a:t>registerHospital</a:t>
            </a:r>
            <a:r>
              <a:rPr dirty="0"/>
              <a:t>(address)</a:t>
            </a:r>
          </a:p>
          <a:p>
            <a:pPr marL="0" indent="0">
              <a:buNone/>
              <a:defRPr sz="1800"/>
            </a:pPr>
            <a:r>
              <a:rPr dirty="0"/>
              <a:t>   • </a:t>
            </a:r>
            <a:r>
              <a:rPr dirty="0" err="1"/>
              <a:t>submitClaim</a:t>
            </a:r>
            <a:r>
              <a:rPr dirty="0"/>
              <a:t>(hospital, amount)</a:t>
            </a:r>
          </a:p>
          <a:p>
            <a:pPr marL="0" indent="0">
              <a:buNone/>
              <a:defRPr sz="1800"/>
            </a:pPr>
            <a:r>
              <a:rPr dirty="0"/>
              <a:t>   • </a:t>
            </a:r>
            <a:r>
              <a:rPr dirty="0" err="1"/>
              <a:t>approveClaim</a:t>
            </a:r>
            <a:r>
              <a:rPr dirty="0"/>
              <a:t>(</a:t>
            </a:r>
            <a:r>
              <a:rPr dirty="0" err="1"/>
              <a:t>claimId</a:t>
            </a:r>
            <a:r>
              <a:rPr dirty="0"/>
              <a:t>)</a:t>
            </a:r>
          </a:p>
          <a:p>
            <a:pPr marL="0" indent="0">
              <a:buNone/>
              <a:defRPr sz="1800"/>
            </a:pPr>
            <a:r>
              <a:rPr dirty="0"/>
              <a:t>   • </a:t>
            </a:r>
            <a:r>
              <a:rPr dirty="0" err="1"/>
              <a:t>rejectClaim</a:t>
            </a:r>
            <a:r>
              <a:rPr dirty="0"/>
              <a:t>(</a:t>
            </a:r>
            <a:r>
              <a:rPr dirty="0" err="1"/>
              <a:t>claimId</a:t>
            </a:r>
            <a:r>
              <a:rPr dirty="0"/>
              <a:t>)</a:t>
            </a:r>
          </a:p>
          <a:p>
            <a:pPr marL="0" indent="0">
              <a:buNone/>
              <a:defRPr sz="1800"/>
            </a:pPr>
            <a:r>
              <a:rPr dirty="0"/>
              <a:t>Event: </a:t>
            </a:r>
            <a:r>
              <a:rPr dirty="0" err="1"/>
              <a:t>ClaimSubmitted</a:t>
            </a:r>
            <a:r>
              <a:rPr dirty="0"/>
              <a:t>(</a:t>
            </a:r>
            <a:r>
              <a:rPr dirty="0" err="1"/>
              <a:t>claimId</a:t>
            </a:r>
            <a:r>
              <a:rPr dirty="0"/>
              <a:t>, hospital, amount)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78B766-3842-41B2-AC5D-A529FB46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PDF Certificate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Generated automatically on approval</a:t>
            </a:r>
          </a:p>
          <a:p>
            <a:pPr>
              <a:defRPr sz="1800"/>
            </a:pPr>
            <a:r>
              <a:t>Includes: Claim ID, Amount, Hospital, QR Code</a:t>
            </a:r>
          </a:p>
          <a:p>
            <a:pPr>
              <a:defRPr sz="1800"/>
            </a:pPr>
            <a:r>
              <a:t>Watermark: 'Health Portal'</a:t>
            </a:r>
          </a:p>
          <a:p>
            <a:pPr>
              <a:defRPr sz="1800"/>
            </a:pPr>
            <a:r>
              <a:t>Emblem of India + border</a:t>
            </a:r>
          </a:p>
          <a:p>
            <a:pPr>
              <a:defRPr sz="1800"/>
            </a:pPr>
            <a:r>
              <a:t>Downloadable by Treasurer &amp; Hospital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D6F6E5-5995-4899-AF4A-7A7991BD1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524" y="2715129"/>
            <a:ext cx="2328112" cy="300254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CAC89-20D2-4AE5-ABBE-5117F6B2B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Password hashing (</a:t>
            </a:r>
            <a:r>
              <a:rPr dirty="0" err="1"/>
              <a:t>Werkzeug</a:t>
            </a:r>
            <a:r>
              <a:rPr dirty="0"/>
              <a:t>)</a:t>
            </a:r>
          </a:p>
          <a:p>
            <a:pPr>
              <a:defRPr sz="1800"/>
            </a:pPr>
            <a:r>
              <a:rPr dirty="0"/>
              <a:t>Session: </a:t>
            </a:r>
            <a:r>
              <a:rPr dirty="0" err="1"/>
              <a:t>HttpOnly</a:t>
            </a:r>
            <a:r>
              <a:rPr dirty="0"/>
              <a:t>, </a:t>
            </a:r>
            <a:r>
              <a:rPr dirty="0" err="1"/>
              <a:t>SameSite</a:t>
            </a:r>
            <a:r>
              <a:rPr dirty="0"/>
              <a:t>=Lax, 1-hour expiry</a:t>
            </a:r>
          </a:p>
          <a:p>
            <a:pPr>
              <a:defRPr sz="1800"/>
            </a:pPr>
            <a:r>
              <a:rPr dirty="0"/>
              <a:t>File upload validation (extensions, </a:t>
            </a:r>
            <a:r>
              <a:rPr dirty="0" err="1"/>
              <a:t>secure_filename</a:t>
            </a:r>
            <a:r>
              <a:rPr dirty="0"/>
              <a:t>)</a:t>
            </a:r>
          </a:p>
          <a:p>
            <a:pPr>
              <a:defRPr sz="1800"/>
            </a:pPr>
            <a:r>
              <a:rPr dirty="0"/>
              <a:t>Input sanitization &amp; logging</a:t>
            </a:r>
          </a:p>
          <a:p>
            <a:pPr>
              <a:defRPr sz="1800"/>
            </a:pPr>
            <a:r>
              <a:rPr dirty="0"/>
              <a:t>Thread-local SQLite connections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C10C1-3797-4611-B09D-023C15E30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Indian number formatting (Jinja filter)</a:t>
            </a:r>
          </a:p>
          <a:p>
            <a:pPr>
              <a:defRPr sz="1800"/>
            </a:pPr>
            <a:r>
              <a:rPr dirty="0"/>
              <a:t>XLSX bulk import with Aadhaar validation</a:t>
            </a:r>
          </a:p>
          <a:p>
            <a:pPr>
              <a:defRPr sz="1800"/>
            </a:pPr>
            <a:r>
              <a:rPr dirty="0"/>
              <a:t>Family-wise claim limit enforcement</a:t>
            </a:r>
          </a:p>
          <a:p>
            <a:pPr>
              <a:defRPr sz="1800"/>
            </a:pPr>
            <a:r>
              <a:rPr dirty="0"/>
              <a:t>Comprehensive logging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C4B4EA-066C-4C91-BE36-D337332D236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459" y="1706880"/>
            <a:ext cx="2547302" cy="379857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CFF21-0183-4D44-85A4-2B20B6A3C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1. Login as Hospital → Submit Claim</a:t>
            </a:r>
          </a:p>
          <a:p>
            <a:pPr>
              <a:defRPr sz="1800"/>
            </a:pPr>
            <a:r>
              <a:t>2. Treasurer → Review &amp; Approve</a:t>
            </a:r>
          </a:p>
          <a:p>
            <a:pPr>
              <a:defRPr sz="1800"/>
            </a:pPr>
            <a:r>
              <a:t>3. Certificate Generated → Download</a:t>
            </a:r>
          </a:p>
          <a:p>
            <a:pPr>
              <a:defRPr sz="1800"/>
            </a:pPr>
            <a:r>
              <a:t>4. Scan QR → Verify on Blockchain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FDAD03-7D07-4BD6-9411-69C98D00419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0059" y="2556932"/>
            <a:ext cx="4223702" cy="345651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724E1C-4097-4C4B-9528-B23E2EB7A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Public claim verification portal</a:t>
            </a:r>
          </a:p>
          <a:p>
            <a:pPr>
              <a:defRPr sz="1800"/>
            </a:pPr>
            <a:r>
              <a:t>SMS/Email alerts on status change</a:t>
            </a:r>
          </a:p>
          <a:p>
            <a:pPr>
              <a:defRPr sz="1800"/>
            </a:pPr>
            <a:r>
              <a:t>IPFS storage for bill PDFs</a:t>
            </a:r>
          </a:p>
          <a:p>
            <a:pPr>
              <a:defRPr sz="1800"/>
            </a:pPr>
            <a:r>
              <a:t>Digital signature on certificates</a:t>
            </a:r>
          </a:p>
          <a:p>
            <a:pPr>
              <a:defRPr sz="1800"/>
            </a:pPr>
            <a:r>
              <a:t>Mobile app for hospital staff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E7E7D-1C1B-430A-8F5F-4E65F3222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ctr">
              <a:defRPr sz="2400"/>
            </a:pPr>
            <a:r>
              <a:rPr dirty="0"/>
              <a:t>Project by: </a:t>
            </a:r>
            <a:r>
              <a:rPr lang="en-US" dirty="0"/>
              <a:t>Chandana T</a:t>
            </a:r>
            <a:endParaRPr dirty="0"/>
          </a:p>
          <a:p>
            <a:pPr algn="ctr">
              <a:defRPr sz="1800"/>
            </a:pPr>
            <a:r>
              <a:rPr dirty="0"/>
              <a:t>GitHub: github.com/</a:t>
            </a:r>
            <a:r>
              <a:rPr lang="en-US" dirty="0"/>
              <a:t>Chandanat14</a:t>
            </a:r>
            <a:r>
              <a:rPr dirty="0"/>
              <a:t>/health-fund-portal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CEC91-6E8B-40E0-A9A2-6BA8223F8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548</TotalTime>
  <Words>711</Words>
  <Application>Microsoft Office PowerPoint</Application>
  <PresentationFormat>Custom</PresentationFormat>
  <Paragraphs>153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Garamond</vt:lpstr>
      <vt:lpstr>Organic</vt:lpstr>
      <vt:lpstr>Healthcare Fund Allocation Portal</vt:lpstr>
      <vt:lpstr>Under the guidance of:</vt:lpstr>
      <vt:lpstr>Introduction</vt:lpstr>
      <vt:lpstr>Literature Survey</vt:lpstr>
      <vt:lpstr>Literature Survey</vt:lpstr>
      <vt:lpstr>Motivation</vt:lpstr>
      <vt:lpstr>Problem Statement</vt:lpstr>
      <vt:lpstr>Solution Overview</vt:lpstr>
      <vt:lpstr>System Architecture</vt:lpstr>
      <vt:lpstr>User Roles</vt:lpstr>
      <vt:lpstr>Socio-Economic Admin</vt:lpstr>
      <vt:lpstr>Treasurer Dashboard</vt:lpstr>
      <vt:lpstr>Hospital Staff Workflow</vt:lpstr>
      <vt:lpstr>Blockchain Integration</vt:lpstr>
      <vt:lpstr>PDF Certificate Generation</vt:lpstr>
      <vt:lpstr>Security Features</vt:lpstr>
      <vt:lpstr>Key Features</vt:lpstr>
      <vt:lpstr>Demo Flow</vt:lpstr>
      <vt:lpstr>Future Enhancements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Fund Allocation Portal</dc:title>
  <dc:subject/>
  <dc:creator/>
  <cp:keywords/>
  <dc:description>generated using python-pptx</dc:description>
  <cp:lastModifiedBy>CHANDANA .T</cp:lastModifiedBy>
  <cp:revision>13</cp:revision>
  <dcterms:created xsi:type="dcterms:W3CDTF">2013-01-27T09:14:16Z</dcterms:created>
  <dcterms:modified xsi:type="dcterms:W3CDTF">2025-11-04T14:27:13Z</dcterms:modified>
  <cp:category/>
</cp:coreProperties>
</file>